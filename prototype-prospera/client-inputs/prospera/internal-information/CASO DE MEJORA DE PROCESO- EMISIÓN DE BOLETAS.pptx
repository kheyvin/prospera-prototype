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3" r:id="rId2"/>
    <p:sldId id="350" r:id="rId3"/>
    <p:sldId id="349" r:id="rId4"/>
    <p:sldId id="354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478A7-0F2A-113B-97B4-C1F0009CF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F904A-3E10-E568-DA79-E8EE6E4FB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8C004C-0CD0-60C1-B42A-A8E35AB5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7B0857-34F7-3AA1-EAFD-C90A930F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B4C375-99E4-712B-714E-8B6F829D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1684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94FE0-0099-4150-132A-9498D6E3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DE78F-9BDC-3CB9-EF66-943AB070A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45CF22-A80A-38C9-8690-0687F7694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DBD6D2-BCEF-FE63-9B0A-FC83F00A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51EC5E-05AB-FDD1-BBD9-8DF5D8B8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84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64CB7-6EAB-ECBC-945A-46FBFF7C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29704F-BD9D-86E5-90DA-E9DBFBC96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939A71-7C9A-D73B-0331-94DFDA3B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7B75CF-C5AD-E01C-DD15-038FDD80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36E9-77A3-223D-7843-984D2BA4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691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F4A8A-0B90-DD73-A3A2-8652A480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8412F3-EDC4-7BC0-7FEC-B0DE910AB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3B0030-C7F4-7BE3-324C-B8E1DA290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6A313B-5E5D-7ECB-6ED6-9D06AC6C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EA91A1-5C49-3645-8106-2BEA9D79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70B643-8BCE-B44C-E194-23272595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836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3B3FF-B0EE-2D34-CC7A-B527BFBD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68B875-B588-74F0-FFB4-4746F81E9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8B0D20-118A-2B75-C34E-C10C52B46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2338C8-060E-A8B5-7729-B1C4A5BC6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2A3A215-F28C-9B24-9005-9BD84DA87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ADCEFC8-193C-A1B9-9F29-B86592D6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393BBB-CA54-8D89-2E1E-CCF96CE2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A10F8C-F83B-3EDE-8321-FF240758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485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57F79-66E4-F7E4-F578-D7C0DE18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6C79B0-020C-CDA9-1422-A4035588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15E506-7178-0ABA-88B6-4476C27F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2936BC-9B43-945D-A307-89FC5B7B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219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7085783-AB42-3EA4-2E51-2FE837F8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FCC6E0-3F1D-F475-6E40-0312FC36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9E7A45-F116-DE04-A282-BC5E8134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910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01F18-2F05-8940-0DD3-EE88552A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6F3C67-20A1-B618-E7D8-26B2EA0BE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38A1DB-7C1B-2F29-419D-552FBE4F4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754F00-C02A-DF05-308D-710FD6BE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8C403D-FD8F-EE5D-60AC-446EDDA8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261417-C6C3-1230-371D-C529753D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805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A03E5-BA48-F985-B9FC-3BF7E502B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CD082D2-7B0F-059A-786E-A25048F4F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E70336-2337-84EE-C6DD-542616E2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DE7272-693D-FD22-0807-1AE3AFF6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D9C08F-9B43-4AEE-8E21-42860D8A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5AC85F-6DD1-EFBC-C9A3-125526C1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74000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17C9B-98A7-A475-B66D-66549A32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A6E1F8-6D42-7BF4-7761-8EADE8936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9FB786-23D2-4922-30A4-58D5E24D3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98C03-8DCA-FF83-1CB7-13B003049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4BA3D6-CBBC-5315-73CE-FDE7C4E7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135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6A0D9B-3651-0FE4-68A8-82D3D149A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35E8B3-3E79-6304-107E-45A804B3D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D33203-1F56-CB19-334A-8B698481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FBC94E-F013-7A07-87FE-494284C7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F217F9-3AEF-910C-6773-0862F824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50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2188F2-4868-3F57-AAFA-B7595316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A51EF6-7DB0-92A9-17A2-F2E71DB8C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E4CF5D-47BD-8ACC-5D21-2C26B2253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D8875-5081-473B-B3EE-AF82B661BA7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6E6943-D828-D8DF-9024-DFB33FC09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B0A6C3-BB6F-9EA7-43B9-69A0BFAF7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DEF9C-3F6A-49A7-9DE0-3888008151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983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0D35F26-DE17-C9F8-8559-3BAECC776B62}"/>
              </a:ext>
            </a:extLst>
          </p:cNvPr>
          <p:cNvSpPr txBox="1"/>
          <p:nvPr/>
        </p:nvSpPr>
        <p:spPr>
          <a:xfrm>
            <a:off x="663441" y="2194060"/>
            <a:ext cx="9469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300" dirty="0">
                <a:latin typeface="Aptos" panose="020B0004020202020204" pitchFamily="34" charset="0"/>
              </a:rPr>
              <a:t>Comprende desde el pago realizado por el cliente </a:t>
            </a:r>
            <a:r>
              <a:rPr lang="es-PE" sz="1400" dirty="0"/>
              <a:t>hasta la emisión de la boleta.</a:t>
            </a:r>
            <a:endParaRPr lang="es-PE" sz="1300" dirty="0">
              <a:latin typeface="Aptos" panose="020B00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02C70C-AADC-4099-B2E1-39FD876870FF}"/>
              </a:ext>
            </a:extLst>
          </p:cNvPr>
          <p:cNvSpPr txBox="1"/>
          <p:nvPr/>
        </p:nvSpPr>
        <p:spPr>
          <a:xfrm>
            <a:off x="663441" y="1972486"/>
            <a:ext cx="447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rgbClr val="082653"/>
                </a:solidFill>
                <a:latin typeface="Aptos" panose="020B0004020202020204" pitchFamily="34" charset="0"/>
              </a:rPr>
              <a:t>ALCANCE: </a:t>
            </a:r>
            <a:endParaRPr lang="es-PE" sz="1400" b="1" dirty="0">
              <a:solidFill>
                <a:srgbClr val="08265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BC32B73-6BF9-E545-F197-76B6AC3124C9}"/>
              </a:ext>
            </a:extLst>
          </p:cNvPr>
          <p:cNvSpPr/>
          <p:nvPr/>
        </p:nvSpPr>
        <p:spPr>
          <a:xfrm>
            <a:off x="340822" y="3655308"/>
            <a:ext cx="2451027" cy="224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Aptos" panose="020B0004020202020204" pitchFamily="34" charset="0"/>
              </a:rPr>
              <a:t>Emisión y envío de boletas por </a:t>
            </a:r>
            <a:r>
              <a:rPr lang="es-PE" sz="1400" b="1" dirty="0">
                <a:latin typeface="Aptos" panose="020B0004020202020204" pitchFamily="34" charset="0"/>
              </a:rPr>
              <a:t>pagos asociados a: departamentos, cocheras o almacenes.</a:t>
            </a:r>
            <a:endParaRPr lang="es-PE" sz="1400" dirty="0">
              <a:latin typeface="Aptos" panose="020B00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8D3D4C6-6635-4D96-54AE-8E05CF1ED4DD}"/>
              </a:ext>
            </a:extLst>
          </p:cNvPr>
          <p:cNvSpPr/>
          <p:nvPr/>
        </p:nvSpPr>
        <p:spPr>
          <a:xfrm>
            <a:off x="3350903" y="3679043"/>
            <a:ext cx="2359587" cy="2225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Aptos" panose="020B0004020202020204" pitchFamily="34" charset="0"/>
              </a:rPr>
              <a:t>Cuando el cliente </a:t>
            </a:r>
            <a:r>
              <a:rPr lang="es-PE" sz="1400" b="1" dirty="0">
                <a:latin typeface="Aptos" panose="020B0004020202020204" pitchFamily="34" charset="0"/>
              </a:rPr>
              <a:t>realiza un pago por la unidad inmobiliaria</a:t>
            </a:r>
            <a:r>
              <a:rPr lang="es-PE" sz="1400" dirty="0">
                <a:latin typeface="Aptos" panose="020B0004020202020204" pitchFamily="34" charset="0"/>
              </a:rPr>
              <a:t>: </a:t>
            </a:r>
            <a:r>
              <a:rPr lang="es-PE" sz="1400" b="1" dirty="0">
                <a:latin typeface="Aptos" panose="020B0004020202020204" pitchFamily="34" charset="0"/>
              </a:rPr>
              <a:t>separación, cuota inicial o cuota complementaria</a:t>
            </a:r>
            <a:r>
              <a:rPr lang="es-PE" sz="1400" dirty="0">
                <a:latin typeface="Aptos" panose="020B0004020202020204" pitchFamily="34" charset="0"/>
              </a:rPr>
              <a:t>, cada uno con requisitos documentales específicos.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F855856-3757-AF7B-FBCF-66DB784E8BBD}"/>
              </a:ext>
            </a:extLst>
          </p:cNvPr>
          <p:cNvSpPr/>
          <p:nvPr/>
        </p:nvSpPr>
        <p:spPr>
          <a:xfrm>
            <a:off x="6355921" y="3679042"/>
            <a:ext cx="2451027" cy="2225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b="1" dirty="0">
                <a:latin typeface="Aptos" panose="020B0004020202020204" pitchFamily="34" charset="0"/>
              </a:rPr>
              <a:t>Cliente, Ejecutivo de Ventas, Administración y Contabilidad</a:t>
            </a:r>
            <a:r>
              <a:rPr lang="es-PE" sz="1400" dirty="0">
                <a:latin typeface="Aptos" panose="020B0004020202020204" pitchFamily="34" charset="0"/>
              </a:rPr>
              <a:t>, desde la recepción documental hasta la emisión de la boleta.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BC851F4-6137-90C5-FE54-87B7DB63DE58}"/>
              </a:ext>
            </a:extLst>
          </p:cNvPr>
          <p:cNvSpPr/>
          <p:nvPr/>
        </p:nvSpPr>
        <p:spPr>
          <a:xfrm>
            <a:off x="9279626" y="3716997"/>
            <a:ext cx="2570097" cy="22257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b="1" dirty="0"/>
              <a:t>Expedientes incompletos, falta de estandarización e información dispersa</a:t>
            </a:r>
            <a:r>
              <a:rPr lang="es-PE" sz="1400" dirty="0"/>
              <a:t> generan reprocesos, mucha carga manual y menor trazabilidad.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E449B5E-CCA9-5029-C014-AE49EB78379E}"/>
              </a:ext>
            </a:extLst>
          </p:cNvPr>
          <p:cNvSpPr/>
          <p:nvPr/>
        </p:nvSpPr>
        <p:spPr>
          <a:xfrm>
            <a:off x="844052" y="3081374"/>
            <a:ext cx="1507519" cy="3823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solidFill>
                  <a:srgbClr val="082653"/>
                </a:solidFill>
                <a:latin typeface="Aptos" panose="020B0004020202020204" pitchFamily="34" charset="0"/>
              </a:rPr>
              <a:t>¿QUÉ SE GESTIONA EN EL PROCESO?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607186C-17A1-4021-4521-C1F1A62C7C12}"/>
              </a:ext>
            </a:extLst>
          </p:cNvPr>
          <p:cNvSpPr/>
          <p:nvPr/>
        </p:nvSpPr>
        <p:spPr>
          <a:xfrm>
            <a:off x="3884638" y="3112165"/>
            <a:ext cx="1518459" cy="3823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solidFill>
                  <a:srgbClr val="082653"/>
                </a:solidFill>
                <a:latin typeface="Aptos" panose="020B0004020202020204" pitchFamily="34" charset="0"/>
              </a:rPr>
              <a:t>¿CUÁNDO APLICA?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DB854B9-7798-C151-7774-825CED4F6FB3}"/>
              </a:ext>
            </a:extLst>
          </p:cNvPr>
          <p:cNvSpPr/>
          <p:nvPr/>
        </p:nvSpPr>
        <p:spPr>
          <a:xfrm>
            <a:off x="7028881" y="3126249"/>
            <a:ext cx="1453168" cy="3823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solidFill>
                  <a:srgbClr val="082653"/>
                </a:solidFill>
                <a:latin typeface="Aptos" panose="020B0004020202020204" pitchFamily="34" charset="0"/>
              </a:rPr>
              <a:t>¿QUIÉNES INTERVIENEN?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D8D9ACF2-0B2F-5CF5-EE71-4EB013C8EF86}"/>
              </a:ext>
            </a:extLst>
          </p:cNvPr>
          <p:cNvSpPr/>
          <p:nvPr/>
        </p:nvSpPr>
        <p:spPr>
          <a:xfrm>
            <a:off x="9958328" y="2966819"/>
            <a:ext cx="1638457" cy="6189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solidFill>
                  <a:srgbClr val="082653"/>
                </a:solidFill>
                <a:latin typeface="Aptos" panose="020B0004020202020204" pitchFamily="34" charset="0"/>
              </a:rPr>
              <a:t>¿QUÉ DIFICULTADES PRESENTA ACTUALMENTE?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612FF89-D000-3FFF-C797-D5EF89C9F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96" y="3127095"/>
            <a:ext cx="331124" cy="331124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53F26B83-968C-B54B-C8F4-29D1362F7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111" y="3112165"/>
            <a:ext cx="351595" cy="351595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51C0F109-E318-8B32-BC85-398E37E7E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353" y="3156206"/>
            <a:ext cx="351596" cy="351596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FA2D38E7-1D6D-DB9E-9714-3E6245663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9589" y="3112165"/>
            <a:ext cx="359492" cy="359492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43A75281-C72E-D975-FE8D-39126E7F0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43424" y="98426"/>
            <a:ext cx="1095172" cy="31617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A87F9723-F8F3-0B9A-3120-244AA4E3BAD7}"/>
              </a:ext>
            </a:extLst>
          </p:cNvPr>
          <p:cNvSpPr txBox="1"/>
          <p:nvPr/>
        </p:nvSpPr>
        <p:spPr>
          <a:xfrm>
            <a:off x="257694" y="538228"/>
            <a:ext cx="953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>
                <a:solidFill>
                  <a:srgbClr val="082653"/>
                </a:solidFill>
                <a:latin typeface="Aptos" panose="020B0004020202020204" pitchFamily="34" charset="0"/>
              </a:rPr>
              <a:t>CASO DE MEJORA DE PROCESO: EMISIÓN DE BOLETAS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91DDD255-E698-2DFF-3E48-EF738D01199F}"/>
              </a:ext>
            </a:extLst>
          </p:cNvPr>
          <p:cNvSpPr>
            <a:spLocks noGrp="1"/>
          </p:cNvSpPr>
          <p:nvPr/>
        </p:nvSpPr>
        <p:spPr>
          <a:xfrm>
            <a:off x="340822" y="953249"/>
            <a:ext cx="1047750" cy="47625"/>
          </a:xfrm>
          <a:prstGeom prst="roundRect">
            <a:avLst>
              <a:gd name="adj" fmla="val 40000"/>
            </a:avLst>
          </a:prstGeom>
          <a:solidFill>
            <a:srgbClr val="00B8AE"/>
          </a:solidFill>
          <a:ln w="0">
            <a:noFill/>
            <a:prstDash val="solid"/>
          </a:ln>
        </p:spPr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50D5533-02BF-A25D-92BC-64082401B317}"/>
              </a:ext>
            </a:extLst>
          </p:cNvPr>
          <p:cNvSpPr txBox="1"/>
          <p:nvPr/>
        </p:nvSpPr>
        <p:spPr>
          <a:xfrm>
            <a:off x="663441" y="1345211"/>
            <a:ext cx="531161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rgbClr val="082653"/>
                </a:solidFill>
                <a:latin typeface="Aptos" panose="020B0004020202020204" pitchFamily="34" charset="0"/>
              </a:rPr>
              <a:t>DUEÑO DEL PROCESO:</a:t>
            </a:r>
          </a:p>
          <a:p>
            <a:r>
              <a:rPr lang="es-MX" sz="1300" dirty="0">
                <a:latin typeface="Aptos" panose="020B0004020202020204" pitchFamily="34" charset="0"/>
              </a:rPr>
              <a:t>Área de </a:t>
            </a:r>
            <a:r>
              <a:rPr lang="es-MX" sz="1300" dirty="0" err="1">
                <a:latin typeface="Aptos" panose="020B0004020202020204" pitchFamily="34" charset="0"/>
              </a:rPr>
              <a:t>Adm</a:t>
            </a:r>
            <a:r>
              <a:rPr lang="es-MX" sz="1300" dirty="0">
                <a:latin typeface="Aptos" panose="020B0004020202020204" pitchFamily="34" charset="0"/>
              </a:rPr>
              <a:t>. y Finanzas </a:t>
            </a:r>
            <a:endParaRPr lang="es-PE" sz="1300" dirty="0">
              <a:latin typeface="Aptos" panose="020B0004020202020204" pitchFamily="34" charset="0"/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50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939F-1B74-4676-2A58-A31C4C8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87B1FF-A52C-28C1-B7FA-C6DE103C6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6877"/>
            <a:ext cx="12192000" cy="48851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E27646-1C5D-CF9E-2DB1-EC40E5291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267" y="90114"/>
            <a:ext cx="1020358" cy="29457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F895EDA-373A-33D3-B39F-043950DA6434}"/>
              </a:ext>
            </a:extLst>
          </p:cNvPr>
          <p:cNvSpPr txBox="1"/>
          <p:nvPr/>
        </p:nvSpPr>
        <p:spPr>
          <a:xfrm>
            <a:off x="2885727" y="302620"/>
            <a:ext cx="683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PROCESO ACTUAL DE EMISIÓN Y ENVÍO DE BOLETAS — AS-IS</a:t>
            </a:r>
            <a:endParaRPr lang="es-PE" b="1" dirty="0">
              <a:solidFill>
                <a:srgbClr val="08265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755F2F8-8E4B-F8F5-D016-4A1ACF546DF0}"/>
              </a:ext>
            </a:extLst>
          </p:cNvPr>
          <p:cNvSpPr>
            <a:spLocks noGrp="1"/>
          </p:cNvSpPr>
          <p:nvPr/>
        </p:nvSpPr>
        <p:spPr>
          <a:xfrm>
            <a:off x="5488998" y="626233"/>
            <a:ext cx="748319" cy="45719"/>
          </a:xfrm>
          <a:prstGeom prst="roundRect">
            <a:avLst>
              <a:gd name="adj" fmla="val 40000"/>
            </a:avLst>
          </a:prstGeom>
          <a:solidFill>
            <a:srgbClr val="00B8AE"/>
          </a:solidFill>
          <a:ln w="0">
            <a:noFill/>
            <a:prstDash val="solid"/>
          </a:ln>
        </p:spPr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779CAAA-0B2B-F398-DF1B-EB9B9428F7B4}"/>
              </a:ext>
            </a:extLst>
          </p:cNvPr>
          <p:cNvSpPr txBox="1"/>
          <p:nvPr/>
        </p:nvSpPr>
        <p:spPr>
          <a:xfrm>
            <a:off x="2885727" y="748747"/>
            <a:ext cx="609738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300" dirty="0"/>
              <a:t>Situación actual levantada: actividades, responsables, controles y puntos de reproceso.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6D3E4A6-A88D-F70C-5B81-30FEAC8B5ADB}"/>
              </a:ext>
            </a:extLst>
          </p:cNvPr>
          <p:cNvCxnSpPr/>
          <p:nvPr/>
        </p:nvCxnSpPr>
        <p:spPr>
          <a:xfrm flipV="1">
            <a:off x="1005840" y="4729942"/>
            <a:ext cx="515389" cy="9975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505045A-FAAB-ED6A-F9C7-66AE0C6A7989}"/>
              </a:ext>
            </a:extLst>
          </p:cNvPr>
          <p:cNvCxnSpPr>
            <a:cxnSpLocks/>
          </p:cNvCxnSpPr>
          <p:nvPr/>
        </p:nvCxnSpPr>
        <p:spPr>
          <a:xfrm flipH="1" flipV="1">
            <a:off x="3397222" y="4864662"/>
            <a:ext cx="2030989" cy="8174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29EFCF1-4A19-300F-939D-98583BD734F0}"/>
              </a:ext>
            </a:extLst>
          </p:cNvPr>
          <p:cNvCxnSpPr>
            <a:cxnSpLocks/>
          </p:cNvCxnSpPr>
          <p:nvPr/>
        </p:nvCxnSpPr>
        <p:spPr>
          <a:xfrm flipV="1">
            <a:off x="6682790" y="3261360"/>
            <a:ext cx="2815710" cy="23414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FCE8A36-D877-CB71-8418-2B279E89512C}"/>
              </a:ext>
            </a:extLst>
          </p:cNvPr>
          <p:cNvCxnSpPr>
            <a:cxnSpLocks/>
          </p:cNvCxnSpPr>
          <p:nvPr/>
        </p:nvCxnSpPr>
        <p:spPr>
          <a:xfrm flipV="1">
            <a:off x="2767584" y="4258887"/>
            <a:ext cx="299812" cy="14383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FBD7571-C90D-ACBF-F6D2-FC52FAFE6D1A}"/>
              </a:ext>
            </a:extLst>
          </p:cNvPr>
          <p:cNvSpPr txBox="1"/>
          <p:nvPr/>
        </p:nvSpPr>
        <p:spPr>
          <a:xfrm>
            <a:off x="315883" y="5682069"/>
            <a:ext cx="146563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900" b="1" dirty="0"/>
              <a:t>Expedientes incompletos sin filtro previo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D6967D1-5443-97EB-CA2E-2594A871112A}"/>
              </a:ext>
            </a:extLst>
          </p:cNvPr>
          <p:cNvSpPr txBox="1"/>
          <p:nvPr/>
        </p:nvSpPr>
        <p:spPr>
          <a:xfrm>
            <a:off x="2580270" y="5697202"/>
            <a:ext cx="1331346" cy="507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Devoluciones de expedientes y revisiones repetidas 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E02B5DE-4B7B-BE44-A912-1ACA2E95CF6F}"/>
              </a:ext>
            </a:extLst>
          </p:cNvPr>
          <p:cNvSpPr txBox="1"/>
          <p:nvPr/>
        </p:nvSpPr>
        <p:spPr>
          <a:xfrm>
            <a:off x="5367715" y="5602778"/>
            <a:ext cx="13960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Información dispersa y poca trazabilidad 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14AD2E05-B2CD-9644-5136-0E5C48885901}"/>
              </a:ext>
            </a:extLst>
          </p:cNvPr>
          <p:cNvCxnSpPr>
            <a:cxnSpLocks/>
          </p:cNvCxnSpPr>
          <p:nvPr/>
        </p:nvCxnSpPr>
        <p:spPr>
          <a:xfrm flipV="1">
            <a:off x="8893889" y="4296301"/>
            <a:ext cx="706581" cy="17219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FF71978-1AEE-ECD0-537A-AF31E91CB452}"/>
              </a:ext>
            </a:extLst>
          </p:cNvPr>
          <p:cNvSpPr txBox="1"/>
          <p:nvPr/>
        </p:nvSpPr>
        <p:spPr>
          <a:xfrm>
            <a:off x="8406572" y="6018276"/>
            <a:ext cx="199265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800" b="1" dirty="0"/>
              <a:t>Alta carga manual al tener que identificar, revisar, corregir y volver a validar la documentación. </a:t>
            </a:r>
          </a:p>
        </p:txBody>
      </p:sp>
    </p:spTree>
    <p:extLst>
      <p:ext uri="{BB962C8B-B14F-4D97-AF65-F5344CB8AC3E}">
        <p14:creationId xmlns:p14="http://schemas.microsoft.com/office/powerpoint/2010/main" val="363836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943E6F-7B7C-6096-7EF5-AC7819D83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1"/>
          <a:stretch>
            <a:fillRect/>
          </a:stretch>
        </p:blipFill>
        <p:spPr>
          <a:xfrm>
            <a:off x="0" y="1209596"/>
            <a:ext cx="12192000" cy="557358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F022666-0F73-F8B6-600E-90222E49E665}"/>
              </a:ext>
            </a:extLst>
          </p:cNvPr>
          <p:cNvSpPr txBox="1"/>
          <p:nvPr/>
        </p:nvSpPr>
        <p:spPr>
          <a:xfrm>
            <a:off x="2910579" y="230504"/>
            <a:ext cx="683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PROCESO MEJORADO DE EMISIÓN Y ENVÍO DE BOLETAS — TO-BE</a:t>
            </a:r>
            <a:endParaRPr lang="es-PE" b="1" dirty="0">
              <a:solidFill>
                <a:srgbClr val="082653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A46B049-8CD6-2F68-29DE-3F9175209B32}"/>
              </a:ext>
            </a:extLst>
          </p:cNvPr>
          <p:cNvSpPr>
            <a:spLocks noGrp="1"/>
          </p:cNvSpPr>
          <p:nvPr/>
        </p:nvSpPr>
        <p:spPr>
          <a:xfrm>
            <a:off x="5578272" y="576169"/>
            <a:ext cx="748319" cy="45719"/>
          </a:xfrm>
          <a:prstGeom prst="roundRect">
            <a:avLst>
              <a:gd name="adj" fmla="val 40000"/>
            </a:avLst>
          </a:prstGeom>
          <a:solidFill>
            <a:srgbClr val="00B8AE"/>
          </a:solidFill>
          <a:ln w="0">
            <a:noFill/>
            <a:prstDash val="solid"/>
          </a:ln>
        </p:spPr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F6974AF-E02A-4343-039A-9A93506596DE}"/>
              </a:ext>
            </a:extLst>
          </p:cNvPr>
          <p:cNvSpPr txBox="1"/>
          <p:nvPr/>
        </p:nvSpPr>
        <p:spPr>
          <a:xfrm>
            <a:off x="2778182" y="638308"/>
            <a:ext cx="68683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300" dirty="0"/>
              <a:t>Propuesta de rediseño con control documental preventivo, centralización y mayor trazabilidad.</a:t>
            </a:r>
          </a:p>
        </p:txBody>
      </p:sp>
      <p:sp>
        <p:nvSpPr>
          <p:cNvPr id="15" name="Abrir llave 14">
            <a:extLst>
              <a:ext uri="{FF2B5EF4-FFF2-40B4-BE49-F238E27FC236}">
                <a16:creationId xmlns:a16="http://schemas.microsoft.com/office/drawing/2014/main" id="{4922AFBC-9FD9-85EF-EC96-E86CC1C0A0C4}"/>
              </a:ext>
            </a:extLst>
          </p:cNvPr>
          <p:cNvSpPr/>
          <p:nvPr/>
        </p:nvSpPr>
        <p:spPr>
          <a:xfrm>
            <a:off x="3308465" y="2818015"/>
            <a:ext cx="149629" cy="1338349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D0F935D-E0C8-9E12-B580-9063166FE8EB}"/>
              </a:ext>
            </a:extLst>
          </p:cNvPr>
          <p:cNvSpPr txBox="1"/>
          <p:nvPr/>
        </p:nvSpPr>
        <p:spPr>
          <a:xfrm>
            <a:off x="1978428" y="4495153"/>
            <a:ext cx="13244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Expedientes completos a la primera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4201ADB-55AD-A2A0-0C35-FC39F46CF919}"/>
              </a:ext>
            </a:extLst>
          </p:cNvPr>
          <p:cNvSpPr txBox="1"/>
          <p:nvPr/>
        </p:nvSpPr>
        <p:spPr>
          <a:xfrm>
            <a:off x="5215368" y="4955477"/>
            <a:ext cx="1474126" cy="7848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Solo los expedientes completos y validados se cargan en SPERANT, evitando observaciones y reprocesos</a:t>
            </a: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4506100C-1B7A-7732-F49B-13E2ACDDC536}"/>
              </a:ext>
            </a:extLst>
          </p:cNvPr>
          <p:cNvSpPr/>
          <p:nvPr/>
        </p:nvSpPr>
        <p:spPr>
          <a:xfrm rot="16200000">
            <a:off x="5889717" y="2690228"/>
            <a:ext cx="125429" cy="2319252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96B90C8-8123-8B17-7A1A-6F144065E678}"/>
              </a:ext>
            </a:extLst>
          </p:cNvPr>
          <p:cNvCxnSpPr>
            <a:cxnSpLocks/>
          </p:cNvCxnSpPr>
          <p:nvPr/>
        </p:nvCxnSpPr>
        <p:spPr>
          <a:xfrm flipV="1">
            <a:off x="5952431" y="3912569"/>
            <a:ext cx="5540" cy="10328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AC3F9BA-60B9-03BF-9F51-6EB17D84CF69}"/>
              </a:ext>
            </a:extLst>
          </p:cNvPr>
          <p:cNvCxnSpPr>
            <a:cxnSpLocks/>
          </p:cNvCxnSpPr>
          <p:nvPr/>
        </p:nvCxnSpPr>
        <p:spPr>
          <a:xfrm flipV="1">
            <a:off x="8013469" y="3697131"/>
            <a:ext cx="433300" cy="10966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2F9EA10-6A90-F632-12AF-B570509557A3}"/>
              </a:ext>
            </a:extLst>
          </p:cNvPr>
          <p:cNvSpPr txBox="1"/>
          <p:nvPr/>
        </p:nvSpPr>
        <p:spPr>
          <a:xfrm>
            <a:off x="7169553" y="4801589"/>
            <a:ext cx="1212449" cy="507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Centralización de documentación en SPERANT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0A633D2C-91D2-C402-D266-DE82FFC86594}"/>
              </a:ext>
            </a:extLst>
          </p:cNvPr>
          <p:cNvCxnSpPr>
            <a:cxnSpLocks/>
          </p:cNvCxnSpPr>
          <p:nvPr/>
        </p:nvCxnSpPr>
        <p:spPr>
          <a:xfrm flipV="1">
            <a:off x="8382002" y="5644009"/>
            <a:ext cx="436071" cy="6217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A86C05F-6FCA-361B-7000-643618BACB20}"/>
              </a:ext>
            </a:extLst>
          </p:cNvPr>
          <p:cNvSpPr txBox="1"/>
          <p:nvPr/>
        </p:nvSpPr>
        <p:spPr>
          <a:xfrm>
            <a:off x="6959831" y="6215584"/>
            <a:ext cx="142217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Menos observaciones y reprocesos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ACA4E977-C01F-2766-D2CE-925065C37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267" y="90114"/>
            <a:ext cx="1020358" cy="294579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C7603B3F-2C4A-48FC-C5A1-781E034C4250}"/>
              </a:ext>
            </a:extLst>
          </p:cNvPr>
          <p:cNvCxnSpPr/>
          <p:nvPr/>
        </p:nvCxnSpPr>
        <p:spPr>
          <a:xfrm flipV="1">
            <a:off x="2793076" y="3497626"/>
            <a:ext cx="515389" cy="9975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2E2B8E0-7DB0-7127-AECE-D0720C4264F3}"/>
              </a:ext>
            </a:extLst>
          </p:cNvPr>
          <p:cNvCxnSpPr>
            <a:cxnSpLocks/>
          </p:cNvCxnSpPr>
          <p:nvPr/>
        </p:nvCxnSpPr>
        <p:spPr>
          <a:xfrm flipH="1" flipV="1">
            <a:off x="8970473" y="5796409"/>
            <a:ext cx="481098" cy="4693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7F9ED5-7F86-1852-4CAB-28254BCFAE05}"/>
              </a:ext>
            </a:extLst>
          </p:cNvPr>
          <p:cNvSpPr txBox="1"/>
          <p:nvPr/>
        </p:nvSpPr>
        <p:spPr>
          <a:xfrm>
            <a:off x="8818073" y="6265716"/>
            <a:ext cx="1581149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Reducción de carga manual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9DBE7B1-AC01-8756-99FC-6E6C386B28D4}"/>
              </a:ext>
            </a:extLst>
          </p:cNvPr>
          <p:cNvCxnSpPr>
            <a:cxnSpLocks/>
          </p:cNvCxnSpPr>
          <p:nvPr/>
        </p:nvCxnSpPr>
        <p:spPr>
          <a:xfrm flipH="1" flipV="1">
            <a:off x="11043111" y="3539485"/>
            <a:ext cx="361951" cy="9556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FB22814-06FA-F879-4D29-A0ABD02022D9}"/>
              </a:ext>
            </a:extLst>
          </p:cNvPr>
          <p:cNvSpPr txBox="1"/>
          <p:nvPr/>
        </p:nvSpPr>
        <p:spPr>
          <a:xfrm>
            <a:off x="11043111" y="4495153"/>
            <a:ext cx="11060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Boletas emitidas en menor tiempo</a:t>
            </a:r>
          </a:p>
        </p:txBody>
      </p:sp>
    </p:spTree>
    <p:extLst>
      <p:ext uri="{BB962C8B-B14F-4D97-AF65-F5344CB8AC3E}">
        <p14:creationId xmlns:p14="http://schemas.microsoft.com/office/powerpoint/2010/main" val="291991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943E6F-7B7C-6096-7EF5-AC7819D83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1"/>
          <a:stretch>
            <a:fillRect/>
          </a:stretch>
        </p:blipFill>
        <p:spPr>
          <a:xfrm>
            <a:off x="0" y="1209596"/>
            <a:ext cx="12192000" cy="557358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F022666-0F73-F8B6-600E-90222E49E665}"/>
              </a:ext>
            </a:extLst>
          </p:cNvPr>
          <p:cNvSpPr txBox="1"/>
          <p:nvPr/>
        </p:nvSpPr>
        <p:spPr>
          <a:xfrm>
            <a:off x="2910579" y="230504"/>
            <a:ext cx="683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PROCESO MEJORADO DE EMISIÓN Y ENVÍO DE BOLETAS — TO-BE</a:t>
            </a:r>
            <a:endParaRPr lang="es-PE" b="1" dirty="0">
              <a:solidFill>
                <a:srgbClr val="082653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A46B049-8CD6-2F68-29DE-3F9175209B32}"/>
              </a:ext>
            </a:extLst>
          </p:cNvPr>
          <p:cNvSpPr>
            <a:spLocks noGrp="1"/>
          </p:cNvSpPr>
          <p:nvPr/>
        </p:nvSpPr>
        <p:spPr>
          <a:xfrm>
            <a:off x="5578272" y="576169"/>
            <a:ext cx="748319" cy="45719"/>
          </a:xfrm>
          <a:prstGeom prst="roundRect">
            <a:avLst>
              <a:gd name="adj" fmla="val 40000"/>
            </a:avLst>
          </a:prstGeom>
          <a:solidFill>
            <a:srgbClr val="00B8AE"/>
          </a:solidFill>
          <a:ln w="0">
            <a:noFill/>
            <a:prstDash val="solid"/>
          </a:ln>
        </p:spPr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F6974AF-E02A-4343-039A-9A93506596DE}"/>
              </a:ext>
            </a:extLst>
          </p:cNvPr>
          <p:cNvSpPr txBox="1"/>
          <p:nvPr/>
        </p:nvSpPr>
        <p:spPr>
          <a:xfrm>
            <a:off x="2778182" y="638308"/>
            <a:ext cx="68683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300" dirty="0"/>
              <a:t>Propuesta de rediseño con control documental preventivo, centralización y mayor trazabilidad.</a:t>
            </a:r>
          </a:p>
        </p:txBody>
      </p:sp>
      <p:sp>
        <p:nvSpPr>
          <p:cNvPr id="15" name="Abrir llave 14">
            <a:extLst>
              <a:ext uri="{FF2B5EF4-FFF2-40B4-BE49-F238E27FC236}">
                <a16:creationId xmlns:a16="http://schemas.microsoft.com/office/drawing/2014/main" id="{4922AFBC-9FD9-85EF-EC96-E86CC1C0A0C4}"/>
              </a:ext>
            </a:extLst>
          </p:cNvPr>
          <p:cNvSpPr/>
          <p:nvPr/>
        </p:nvSpPr>
        <p:spPr>
          <a:xfrm>
            <a:off x="3308465" y="2818015"/>
            <a:ext cx="149629" cy="1338349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D0F935D-E0C8-9E12-B580-9063166FE8EB}"/>
              </a:ext>
            </a:extLst>
          </p:cNvPr>
          <p:cNvSpPr txBox="1"/>
          <p:nvPr/>
        </p:nvSpPr>
        <p:spPr>
          <a:xfrm>
            <a:off x="1978428" y="4495153"/>
            <a:ext cx="13244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Expedientes completos a la primera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4201ADB-55AD-A2A0-0C35-FC39F46CF919}"/>
              </a:ext>
            </a:extLst>
          </p:cNvPr>
          <p:cNvSpPr txBox="1"/>
          <p:nvPr/>
        </p:nvSpPr>
        <p:spPr>
          <a:xfrm>
            <a:off x="5215368" y="4955477"/>
            <a:ext cx="1474126" cy="7848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Solo los expedientes completos y validados se cargan en SPERANT, evitando observaciones y reprocesos</a:t>
            </a: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4506100C-1B7A-7732-F49B-13E2ACDDC536}"/>
              </a:ext>
            </a:extLst>
          </p:cNvPr>
          <p:cNvSpPr/>
          <p:nvPr/>
        </p:nvSpPr>
        <p:spPr>
          <a:xfrm rot="16200000">
            <a:off x="5889717" y="2690228"/>
            <a:ext cx="125429" cy="2319252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96B90C8-8123-8B17-7A1A-6F144065E678}"/>
              </a:ext>
            </a:extLst>
          </p:cNvPr>
          <p:cNvCxnSpPr>
            <a:cxnSpLocks/>
          </p:cNvCxnSpPr>
          <p:nvPr/>
        </p:nvCxnSpPr>
        <p:spPr>
          <a:xfrm flipV="1">
            <a:off x="5952431" y="3912569"/>
            <a:ext cx="5540" cy="10328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AC3F9BA-60B9-03BF-9F51-6EB17D84CF69}"/>
              </a:ext>
            </a:extLst>
          </p:cNvPr>
          <p:cNvCxnSpPr>
            <a:cxnSpLocks/>
          </p:cNvCxnSpPr>
          <p:nvPr/>
        </p:nvCxnSpPr>
        <p:spPr>
          <a:xfrm flipV="1">
            <a:off x="8013469" y="3697131"/>
            <a:ext cx="433300" cy="10966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2F9EA10-6A90-F632-12AF-B570509557A3}"/>
              </a:ext>
            </a:extLst>
          </p:cNvPr>
          <p:cNvSpPr txBox="1"/>
          <p:nvPr/>
        </p:nvSpPr>
        <p:spPr>
          <a:xfrm>
            <a:off x="7169553" y="4801589"/>
            <a:ext cx="1212449" cy="507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Centralización de documentación en SPERANT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0A633D2C-91D2-C402-D266-DE82FFC86594}"/>
              </a:ext>
            </a:extLst>
          </p:cNvPr>
          <p:cNvCxnSpPr>
            <a:cxnSpLocks/>
          </p:cNvCxnSpPr>
          <p:nvPr/>
        </p:nvCxnSpPr>
        <p:spPr>
          <a:xfrm flipV="1">
            <a:off x="8382002" y="5644009"/>
            <a:ext cx="436071" cy="6217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A86C05F-6FCA-361B-7000-643618BACB20}"/>
              </a:ext>
            </a:extLst>
          </p:cNvPr>
          <p:cNvSpPr txBox="1"/>
          <p:nvPr/>
        </p:nvSpPr>
        <p:spPr>
          <a:xfrm>
            <a:off x="6959831" y="6215584"/>
            <a:ext cx="142217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Menos observaciones y reprocesos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ACA4E977-C01F-2766-D2CE-925065C37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267" y="90114"/>
            <a:ext cx="1020358" cy="294579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C7603B3F-2C4A-48FC-C5A1-781E034C4250}"/>
              </a:ext>
            </a:extLst>
          </p:cNvPr>
          <p:cNvCxnSpPr/>
          <p:nvPr/>
        </p:nvCxnSpPr>
        <p:spPr>
          <a:xfrm flipV="1">
            <a:off x="2793076" y="3497626"/>
            <a:ext cx="515389" cy="9975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2E2B8E0-7DB0-7127-AECE-D0720C4264F3}"/>
              </a:ext>
            </a:extLst>
          </p:cNvPr>
          <p:cNvCxnSpPr>
            <a:cxnSpLocks/>
          </p:cNvCxnSpPr>
          <p:nvPr/>
        </p:nvCxnSpPr>
        <p:spPr>
          <a:xfrm flipH="1" flipV="1">
            <a:off x="8970473" y="5796409"/>
            <a:ext cx="481098" cy="4693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7F9ED5-7F86-1852-4CAB-28254BCFAE05}"/>
              </a:ext>
            </a:extLst>
          </p:cNvPr>
          <p:cNvSpPr txBox="1"/>
          <p:nvPr/>
        </p:nvSpPr>
        <p:spPr>
          <a:xfrm>
            <a:off x="8818073" y="6265716"/>
            <a:ext cx="1581149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Reducción de carga manual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9DBE7B1-AC01-8756-99FC-6E6C386B28D4}"/>
              </a:ext>
            </a:extLst>
          </p:cNvPr>
          <p:cNvCxnSpPr>
            <a:cxnSpLocks/>
          </p:cNvCxnSpPr>
          <p:nvPr/>
        </p:nvCxnSpPr>
        <p:spPr>
          <a:xfrm flipH="1" flipV="1">
            <a:off x="11043111" y="3539485"/>
            <a:ext cx="361951" cy="9556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FB22814-06FA-F879-4D29-A0ABD02022D9}"/>
              </a:ext>
            </a:extLst>
          </p:cNvPr>
          <p:cNvSpPr txBox="1"/>
          <p:nvPr/>
        </p:nvSpPr>
        <p:spPr>
          <a:xfrm>
            <a:off x="11043111" y="4495153"/>
            <a:ext cx="11060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900" b="1" dirty="0"/>
              <a:t>Boletas emitidas en menor tiempo</a:t>
            </a:r>
          </a:p>
        </p:txBody>
      </p:sp>
    </p:spTree>
    <p:extLst>
      <p:ext uri="{BB962C8B-B14F-4D97-AF65-F5344CB8AC3E}">
        <p14:creationId xmlns:p14="http://schemas.microsoft.com/office/powerpoint/2010/main" val="2612011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320</Words>
  <Application>Microsoft Office PowerPoint</Application>
  <PresentationFormat>Panorámica</PresentationFormat>
  <Paragraphs>35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 ESTHER PEREZ GOMEZ</dc:creator>
  <cp:lastModifiedBy>ISABEL ESTHER PEREZ GOMEZ</cp:lastModifiedBy>
  <cp:revision>1</cp:revision>
  <dcterms:created xsi:type="dcterms:W3CDTF">2026-09-22T22:48:02Z</dcterms:created>
  <dcterms:modified xsi:type="dcterms:W3CDTF">2026-09-22T22:49:40Z</dcterms:modified>
</cp:coreProperties>
</file>